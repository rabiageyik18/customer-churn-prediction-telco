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36576" cy="51435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315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Machine Learning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Robust Stacking Architecture with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Deep Learning &amp; Explainable AI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3474720"/>
            <a:ext cx="32004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Rabia Geyik  &amp;  Büşra Sarı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Project  |  Telco Customer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077A8">
              <a:alpha val="20000"/>
            </a:srgbClr>
          </a:solidFill>
          <a:ln w="12700">
            <a:solidFill>
              <a:srgbClr val="0077A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1371600"/>
            <a:ext cx="1645920" cy="164592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24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Philosophy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of churn | Telco dataset severe class imbalance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24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4356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ColumnTransformer | Yeo-Johnson | K-Means latent 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313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Models: Standalone Base Learners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of 5 standalone models &amp; hyperparameters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2402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313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 A: SHAP-Pruned Feedback Loop (Stacking)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shadow tree rules | SHAP-based feature selection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4290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502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 B: PyTorch ResNet Stacking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813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PyTorch Tabular ResNet | Deep stacker layer | 60 epochs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502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Leaderboard &amp; Comparison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8130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baselines vs. Stacking vs. ResNet Stacking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Statement &amp; Project Philosophy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5–25× more than retaining an existing one. Even a 5% improvement in churn retention can increase profitability by 25–95%.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1234440" cy="8686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Target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Skew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00200" y="1965960"/>
            <a:ext cx="1234440" cy="8686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011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0" y="1965960"/>
            <a:ext cx="1234440" cy="8686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0116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2423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8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Dataset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Dataset &amp; Class Imbalance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255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distribution requires specialized engineering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Distribution Skew: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is ~26.5% (1,869 churners vs. 5,174 active customers).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Imbalance Risk: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4014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models easily overfit to the majority class, achieving high accuracy but extremely poor recall on churned customers.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1480" y="42793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Engineering Fixes: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48640" y="44074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ratios via Stratified Split, applied balanced class weights, and tuned decision thresholds on OOF predictions.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480560" y="914400"/>
            <a:ext cx="43891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Engineering Philosophy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1417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Zero Data Leakage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664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before any preprocessing. Scaling, encoding, and K-Means clustering applied strictly within the pipeline.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3440" y="2039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Stacking Ensemble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LightGBM + CatBoost as Level-0 learners with Logistic Regression as the meta-learner.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2660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OOF Threshold Tuning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2907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classification boundaries optimized programmatically on Out-of-Fold predictions to maximize Macro F1.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282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Learning Layer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5295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PyTorch Tabular ResNet added as a 4th stacker for non-linear pattern capture.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63440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Class Imbalance Fixes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41513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scale_pos_weight, balanced class weights, and stratified validation to conquer the ~26.5% churn imbalance.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Data Preprocessing &amp;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8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Sklearn Pipeline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46304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563624"/>
            <a:ext cx="256032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1261872"/>
            <a:ext cx="146304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2618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56432" y="1563624"/>
            <a:ext cx="256032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12464" y="1261872"/>
            <a:ext cx="146304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2618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(Zero-Leakage)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75504" y="1563624"/>
            <a:ext cx="256032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31536" y="1261872"/>
            <a:ext cx="146304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2618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(Yeo-Johnson + OHE)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94576" y="1563624"/>
            <a:ext cx="256032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0608" y="1261872"/>
            <a:ext cx="146304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2618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Latent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Injection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148840"/>
            <a:ext cx="41605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ColumnTransformer Pipeline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Numerical Pipeline (Yeo-Johnson Power Transform)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27066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skewed numerical features (tenure, TotalCharges) are transformed using the Yeo-Johnson algorithm to reduce skewness and stabilize variance. Scaled using StandardScaler to a zero-mean, unit-variance Gaussian distribution (critical for Meta-Learner &amp; PyTorch ResNet).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1480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Categorical Pipeline (One-Hot Encoding)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4198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variables are expanded to binary indicators (OneHotEncoder, handle_unknown='ignore') to eliminate non-ordinal model assumptions.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" y="3968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 Unsupervised Feature Injection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41330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K-Means strictly on scaled training data (n_clusters = 3-8, Optuna-tuned). Enjects cluster distance profiles back into the dataset to capture localized, non-linear customer density zones.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63440" y="2148840"/>
            <a:ext cx="4160520" cy="2651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Feature Engineering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AvgMonthlyCharge (tenure-trend)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27066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as TotalCharges / tenure. Serves as a vital proxy for tracking pricing tier consistency and sudden price hikes.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00600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Add-on Digital Services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0" y="34198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sum of all active complementary features (OnlineSecurity, DeviceProtection, TechSupport, etc.). Highly protective factor; services act as key anchors that exponentially reduce churn probability.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00600" y="3968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Non-Linear Customer Lifespans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37760" y="41330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squared captures the quadratic decay curve of churn risk. NewCustomer flag (tenure ≤6 mos) isolates high-risk onboarding; LoyalCustomer flag (tenure ≥48 mos) locks low-risk long-term loyalty.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Individual Models: Standalone Base Learners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96012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9601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96012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9601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960120"/>
            <a:ext cx="105156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96012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960120"/>
            <a:ext cx="352044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960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353312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1353312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53312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353312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1353312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353312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40280" y="135331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77.22%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1353312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72.76%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51960" y="13533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69.25%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40680" y="13533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max_depth=10, min_samples_split=2, min_samples_leaf=1, class_weight='balanced'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74320" y="1975104"/>
            <a:ext cx="19202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40280" y="1975104"/>
            <a:ext cx="960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1975104"/>
            <a:ext cx="960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960" y="1975104"/>
            <a:ext cx="10515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9240" y="1975104"/>
            <a:ext cx="35204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97510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40280" y="197510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78.10%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1975104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72.65%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51960" y="197510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67.20%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40680" y="197510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learning_rate=0.05, max_depth=3, subsample=0.7, min_split=10, min_leaf=2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74320" y="2596896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2596896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2596896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51960" y="2596896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9240" y="2596896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2596896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(Level-0 Stack)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40280" y="259689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77.85%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46120" y="259689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72.15%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51960" y="259689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66.50%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40680" y="25968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max_depth=6, learning_rate=0.03, subsample=0.7, colsample_bytree=0.7, scale_pos_weight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74320" y="3218688"/>
            <a:ext cx="19202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40280" y="3218688"/>
            <a:ext cx="960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46120" y="3218688"/>
            <a:ext cx="9601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51960" y="3218688"/>
            <a:ext cx="10515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9240" y="3218688"/>
            <a:ext cx="352044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218688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(Level-0 Stack)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240280" y="32186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78.05%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46120" y="32186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72.60%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251960" y="321868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67.20%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40680" y="321868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n_estimators=200, max_depth=6, learning_rate=0.03, subsample=0.7, colsample_bytree=0.7, scale_pos_weight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274320" y="3840480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40280" y="3840480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46120" y="3840480"/>
            <a:ext cx="960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51960" y="3840480"/>
            <a:ext cx="1051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49240" y="3840480"/>
            <a:ext cx="3520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38404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(Level-0 Stack)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240280" y="38404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78.00%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46120" y="38404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72.45%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251960" y="384048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66.80%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440680" y="3840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iterations=200, depth=6, learning_rate=0.03, auto_class_weights='Balanced'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274320" y="45537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XGBoost, LightGBM, and CatBoost are selected as Level-0 base ensemblers due to highly complementary correlation profiles, while Random Forest and Gradient Boosting serve as robust baseline control models.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Advanced Model A: SHAP-Pruned Feedback Loop Stacking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2918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Feedback &amp; Stacking Synergy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 A integrates a self-correcting Active Feedback Loop with a high-performance Stacking Ensemble. By training a shadow decision tree on Level-0 cross-validation errors, we extract 15 Boolean error-risk rules. These rules are fed back as features, and we employ SHAP tree explainability to programmatically prune zero-importance features, creating an ultra-clean stacking stack.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301752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529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shadow tree &amp; SHAP rules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Shadow Mining: Shadow tree extracts 15 binary logic paths isolating high-risk error regions.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Pruning: Programmatically drops features with exactly 0.0 SHAP importance.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398678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Stacking Ensemble: Level-0 base trees (XGBoost, LightGBM, CatBoost) are combined via Level-1 Logistic Regression.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0" y="2514600"/>
            <a:ext cx="274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868680"/>
            <a:ext cx="4846320" cy="3886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9326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SHAP-Pruned Feedback Loop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1143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Active Feedback + SHAP Feature Selection (Optuna-tuned)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0" y="1371600"/>
            <a:ext cx="461772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37160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Preprocessing: Stratified Split &amp; Yeo-Johnson ColumnTransformer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82512" y="1737360"/>
            <a:ext cx="4572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892808"/>
            <a:ext cx="4617720" cy="347472"/>
          </a:xfrm>
          <a:prstGeom prst="rect">
            <a:avLst/>
          </a:prstGeom>
          <a:solidFill>
            <a:srgbClr val="5A4E8A"/>
          </a:solidFill>
          <a:ln w="12700">
            <a:solidFill>
              <a:srgbClr val="5A4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892808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Error Mining: Shadow decision tree extracts 15 binary error-risk rules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82512" y="2258568"/>
            <a:ext cx="4572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2414016"/>
            <a:ext cx="4617720" cy="347472"/>
          </a:xfrm>
          <a:prstGeom prst="rect">
            <a:avLst/>
          </a:prstGeom>
          <a:solidFill>
            <a:srgbClr val="7F3E3A"/>
          </a:solidFill>
          <a:ln w="12700">
            <a:solidFill>
              <a:srgbClr val="7F3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414016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SHAP Feature Selection: TreeExplainer programmatically prunes zero-importance features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82512" y="2779776"/>
            <a:ext cx="4572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2935224"/>
            <a:ext cx="46177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935224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Stacking: Level-0 Trees (XGB, LGBM, Cat) + Level-1 Meta-Learner Logistic Regression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382512" y="3300984"/>
            <a:ext cx="45720" cy="137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456432"/>
            <a:ext cx="46177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349300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Recall-Targeted Decision Boundary Tuning (Target &gt;= 70% Recall)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51960" y="371246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programmatically on Out-of-Fold cross-validation predictions to maximize F1 while guaranteeing high recall.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Advanced Model B: PyTorch ResNet Stacking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Deep Learning + Tree Ensemble Integration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1521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tree models split data orthogonally, our custom PyTorch ResNet learns smooth, non-linear latent feature spaces. Ensembling it as a 4th Level-0 learner alongside XGBoost, LightGBM, and CatBoost provides a vital complementary layer of deep intelligence.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ResNet Architecture (PyTorch)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200400" cy="438912"/>
          </a:xfrm>
          <a:prstGeom prst="rect">
            <a:avLst/>
          </a:prstGeom>
          <a:solidFill>
            <a:srgbClr val="5A4E8A"/>
          </a:solidFill>
          <a:ln w="12700">
            <a:solidFill>
              <a:srgbClr val="5A4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(Numerical + OHE Dim)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2359152"/>
            <a:ext cx="91440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41448"/>
            <a:ext cx="3200400" cy="43891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414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BN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ReLU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2880360"/>
            <a:ext cx="91440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626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Block ×N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(Residual skip + Dropout)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3401568"/>
            <a:ext cx="91440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83864"/>
            <a:ext cx="32004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838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Block ×N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(Residual skip + Dropout)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3922776"/>
            <a:ext cx="91440" cy="822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05072"/>
            <a:ext cx="320040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Sigmoid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94760" y="1581912"/>
            <a:ext cx="5074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6733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Block Detail &amp; Training Config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20299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15000" y="20299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prevent vanishing gradients — output += shortcut(input)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77640" y="230428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15000" y="23042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training; normalizes per-batch activations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977640" y="257860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15000" y="257860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Regularization; tuned via Optuna (0.1–0.4)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977640" y="28529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Dimensions: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15000" y="285292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search: {16, 32, 64}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77640" y="312724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15000" y="31272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weight_decay for L2 regularization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977640" y="340156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15000" y="34015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(BCELoss)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977640" y="367588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36758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 (rapid Optuna search) → 60 epochs (final training)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77640" y="395020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15000" y="395020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samples per gradient update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977640" y="42245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Trials: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715000" y="422452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fast trials → best LR, dropout, hidden_dim selected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77640" y="449884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Integration: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715000" y="44988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predictions of ResNet stacked with trees via Logistic Regression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Final Model Leaderboard &amp;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Table  (Decision Threshold = OOF-optimized)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256032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26080" y="1207008"/>
            <a:ext cx="114300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2070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0520" y="1207008"/>
            <a:ext cx="114300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2070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1207008"/>
            <a:ext cx="114300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2070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1207008"/>
            <a:ext cx="114300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2070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0020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60020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Level-0 Baseline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 - Traditional)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0" y="1600200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0944" y="160020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60520" y="1600200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60020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72.76%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600200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9824" y="160020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600200"/>
            <a:ext cx="1143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160020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69.25%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194560"/>
            <a:ext cx="256032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19456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ResNet Stacking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(Trees + 60 Epoch ResNet)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2194560"/>
            <a:ext cx="11430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80944" y="219456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77.36%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2194560"/>
            <a:ext cx="11430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15384" y="219456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73.63%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2194560"/>
            <a:ext cx="11430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9824" y="219456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55.45%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2194560"/>
            <a:ext cx="11430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219456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74.87%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788920"/>
            <a:ext cx="256032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78892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SHAP-Pruned Feedback Loop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(Stacking Ensemble Champion)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26080" y="2788920"/>
            <a:ext cx="11430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80944" y="278892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77.93%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2788920"/>
            <a:ext cx="11430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15384" y="278892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74.09%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2788920"/>
            <a:ext cx="11430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9824" y="278892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56.39%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2788920"/>
            <a:ext cx="1143000" cy="5303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4264" y="2788920"/>
            <a:ext cx="1033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74.33%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767328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858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Metric Focus: Importance of Churn Recall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57200" y="4151376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customer churn prediction, a False Negative (missing a churner) is 5x to 25x more expensive than a False Positive (executing a retention campaign on a loyal customer). In this context, both of our advanced models (built on robust Level-0 Stacking foundations) achieve exceptional recall scores. While PyTorch ResNet Stacking secures the highest absolute Churn Recall (74.87%), our ultimate champion SHAP-Pruned Feedback Loop (Stacking Ensemble) provides a slightly more balanced performance, securing 74.33% Recall, 56.39% Precision, and the highest overall Macro F1-Score (74.09%) on an extremely pruned and clean feature set.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project apart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Robust Stacking 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Level-0 base tree ensemblers (XGB, LGBM, CatBoost) are combined via a Level-1 Meta-Learner Logistic Regression to build a high-performance predictive core.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SHAP-Pruned Feedback Loop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Shadow Tree mines 15 Boolean error rules, which are pruned via SHAP value explanation to establish an ultra-clean, self-correcting stacking model.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PyTorch ResNet Stacking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80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 custom PyTorch Tabular ResNet (Derin Sinir Ağı) as a 4th stacker to learn non-linear latent representations and smooth boundaries.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Rigorous Class Imbalance &amp; Thresholds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6941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Conquers severe imbalanced churn via stratified splits and OOF decision threshold tuning, pushing Churn Recall past 74%.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Dual Champions Selection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4074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ResNet Stacking yields the highest absolute Recall (74.87%), while SHAP-Pruned Feedback Loop provides the best overall balance (74.09% F1, 74.33% Recall).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52160" y="228600"/>
            <a:ext cx="3063240" cy="4663440"/>
          </a:xfrm>
          <a:prstGeom prst="rect">
            <a:avLst/>
          </a:prstGeom>
          <a:solidFill>
            <a:srgbClr val="1020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74.33%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35040" y="1353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(SHAP-Pruned Loop)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74.09%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035040" y="2267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(Balanced Performance)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77.93%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35040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(SHAP-Pruned Loop)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3749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504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Rabia Geyik  |  Büşra Sarı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PptxGenJS</cp:lastModifiedBy>
  <cp:revision>1</cp:revision>
  <dcterms:created xsi:type="dcterms:W3CDTF">2026-05-19T06:32:04Z</dcterms:created>
  <dcterms:modified xsi:type="dcterms:W3CDTF">2026-05-19T06:32:04Z</dcterms:modified>
</cp:coreProperties>
</file>